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19088"/>
            <a:ext cx="10725912" cy="6350"/>
          </a:xfrm>
          <a:prstGeom prst="rect">
            <a:avLst/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5912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0" b="0" i="0">
                <a:solidFill>
                  <a:srgbClr val="ECE6DA"/>
                </a:solidFill>
                <a:latin typeface="Georgia"/>
              </a:rPr>
              <a:t>HIPAApotamus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33288" y="3822191"/>
            <a:ext cx="73152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725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C7C0B2"/>
                </a:solidFill>
                <a:latin typeface="Helvetica"/>
              </a:rPr>
              <a:t>The HIPAA-native contract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1772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8A8E96"/>
                </a:solidFill>
                <a:latin typeface="Helvetica"/>
              </a:rPr>
              <a:t>Built for the Mississippi Department of Health.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19088"/>
            <a:ext cx="10725912" cy="6350"/>
          </a:xfrm>
          <a:prstGeom prst="rect">
            <a:avLst/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F67"/>
                </a:solidFill>
                <a:latin typeface="Helvetica"/>
              </a:rPr>
              <a:t>HIPAApotamus   ·   Feature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0528"/>
            <a:ext cx="5056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5F67"/>
                </a:solidFill>
                <a:latin typeface="Courier New"/>
              </a:rPr>
              <a:t>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5912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0" b="0" i="0">
                <a:solidFill>
                  <a:srgbClr val="ECE6DA"/>
                </a:solidFill>
                <a:latin typeface="Georgia"/>
              </a:rPr>
              <a:t>Spreadsheets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60520"/>
            <a:ext cx="91440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07408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8A8E96"/>
                </a:solidFill>
                <a:latin typeface="Helvetica"/>
              </a:rPr>
              <a:t>How most clinics track Business Associate Agreements today.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188720"/>
            <a:ext cx="50292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53312"/>
            <a:ext cx="10725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8E96"/>
                </a:solidFill>
                <a:latin typeface="Helvetica"/>
              </a:rPr>
              <a:t>How most clinics track Business Associate Agreements today.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8308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No attribution.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402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Who signed? From which IP? On what document version?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1576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45 CFR §164.312(b) — audit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89864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No integrity.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35584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A row can be edited. A PDF on a shared drive can be replaced.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831335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45 CFR §164.312(c)(1) — protection from improper alteration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014215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No retention.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471416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Six-year federal retention. Ten years under Mississippi law.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94690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45 CFR §164.530(j)(2)  ·  Miss. Code §41-9-69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129784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No audit packet.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586984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When OCR asks, the clinic gathers evidence by hand.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06247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— a weekend of panic, not a product 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00 -0.3500 E" pathEditMode="relative" rAng="0" ptsTypes="">
                                      <p:cBhvr>
                                        <p:cTn id="6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34000" y="34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25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30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35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42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47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52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59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64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69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76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81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86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19088"/>
            <a:ext cx="10725912" cy="6350"/>
          </a:xfrm>
          <a:prstGeom prst="rect">
            <a:avLst/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F67"/>
                </a:solidFill>
                <a:latin typeface="Helvetica"/>
              </a:rPr>
              <a:t>HIPAApotamus   ·   Feature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0528"/>
            <a:ext cx="5056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5F67"/>
                </a:solidFill>
                <a:latin typeface="Courier New"/>
              </a:rPr>
              <a:t>03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5912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0" b="0" i="0">
                <a:solidFill>
                  <a:srgbClr val="ECE6DA"/>
                </a:solidFill>
                <a:latin typeface="Georgia"/>
              </a:rPr>
              <a:t>Emailing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60520"/>
            <a:ext cx="91440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07408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8A8E96"/>
                </a:solidFill>
                <a:latin typeface="Helvetica"/>
              </a:rPr>
              <a:t>Delivering a BAA to a vendor looks like a solved problem — until you read the bill and the BAA.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188720"/>
            <a:ext cx="50292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53312"/>
            <a:ext cx="10725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8E96"/>
                </a:solidFill>
                <a:latin typeface="Helvetica"/>
              </a:rPr>
              <a:t>Delivering a BAA to a vendor looks like a solved problem — until you read the bill and the BAA.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8308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DocuSign.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1993392"/>
            <a:ext cx="1069848" cy="20320"/>
          </a:xfrm>
          <a:prstGeom prst="rect">
            <a:avLst/>
          </a:prstGeom>
          <a:solidFill>
            <a:srgbClr val="A8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402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The industry default.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1576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Expensive.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1729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≈ $45 / user / month, per seat, plus per-envelope fees.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64845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Generic.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105656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Doesn't know what a BAA is, or what §164.504(e) requires.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581144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Third-party.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038344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Your PHI leaves the AWS BAA perimeter to reach their servers.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513831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— adds a Business Associate you must paper separately 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51383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Our answer.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97103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Amazon SES inside the AWS BAA. Signed-URL invitations, no third party on the path.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NIST SP 800-177  ·  AWS Healthcare Lens HCL_SEC7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00 -0.3500 E" pathEditMode="relative" rAng="0" ptsTypes="">
                                      <p:cBhvr>
                                        <p:cTn id="6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34000" y="34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19088"/>
            <a:ext cx="10725912" cy="6350"/>
          </a:xfrm>
          <a:prstGeom prst="rect">
            <a:avLst/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F67"/>
                </a:solidFill>
                <a:latin typeface="Helvetica"/>
              </a:rPr>
              <a:t>HIPAApotamus   ·   Feature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0528"/>
            <a:ext cx="5056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5F67"/>
                </a:solidFill>
                <a:latin typeface="Courier New"/>
              </a:rPr>
              <a:t>04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5912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0" b="0" i="0">
                <a:solidFill>
                  <a:srgbClr val="ECE6DA"/>
                </a:solidFill>
                <a:latin typeface="Georgia"/>
              </a:rPr>
              <a:t>Verify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60520"/>
            <a:ext cx="91440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07408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8A8E96"/>
                </a:solidFill>
                <a:latin typeface="Helvetica"/>
              </a:rPr>
              <a:t>Before a vendor sees the document, we prove they are the intended signer.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188720"/>
            <a:ext cx="50292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53312"/>
            <a:ext cx="10725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8E96"/>
                </a:solidFill>
                <a:latin typeface="Helvetica"/>
              </a:rPr>
              <a:t>Before a vendor sees the document, we prove they are the intended signer.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2024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ECE6DA"/>
                </a:solidFill>
                <a:latin typeface="Helvetica"/>
              </a:rPr>
              <a:t>Magic link.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7744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7C0B2"/>
                </a:solidFill>
                <a:latin typeface="Helvetica"/>
              </a:rPr>
              <a:t>HMAC-SHA256 signed token, 72-hour TTL.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5292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src/lib/signing/token.ts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2024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ECE6DA"/>
                </a:solidFill>
                <a:latin typeface="Helvetica"/>
              </a:rPr>
              <a:t>Email OTP.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37744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7C0B2"/>
                </a:solidFill>
                <a:latin typeface="Helvetica"/>
              </a:rPr>
              <a:t>Six digits, ten-minute window, three-attempt lockout.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5292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src/lib/signing/otp.ts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06908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ECE6DA"/>
                </a:solidFill>
                <a:latin typeface="Helvetica"/>
              </a:rPr>
              <a:t>Authority to bind.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52628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7C0B2"/>
                </a:solidFill>
                <a:latin typeface="Helvetica"/>
              </a:rPr>
              <a:t>OTP goes to the registered contact — not whoever forwarded the link.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00176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ESIGN §7001(c)  ·  UETA Miss. Code §75-12-1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06908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ECE6DA"/>
                </a:solidFill>
                <a:latin typeface="Helvetica"/>
              </a:rPr>
              <a:t>No vendor accounts.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52628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7C0B2"/>
                </a:solidFill>
                <a:latin typeface="Helvetica"/>
              </a:rPr>
              <a:t>Completion matters more than account creation friction.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00 -0.3500 E" pathEditMode="relative" rAng="0" ptsTypes="">
                                      <p:cBhvr>
                                        <p:cTn id="6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34000" y="34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25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30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35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42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47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52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59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64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69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76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81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19088"/>
            <a:ext cx="10725912" cy="6350"/>
          </a:xfrm>
          <a:prstGeom prst="rect">
            <a:avLst/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F67"/>
                </a:solidFill>
                <a:latin typeface="Helvetica"/>
              </a:rPr>
              <a:t>HIPAApotamus   ·   Feature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0528"/>
            <a:ext cx="5056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5F67"/>
                </a:solidFill>
                <a:latin typeface="Courier New"/>
              </a:rPr>
              <a:t>05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5912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0" b="0" i="0">
                <a:solidFill>
                  <a:srgbClr val="ECE6DA"/>
                </a:solidFill>
                <a:latin typeface="Georgia"/>
              </a:rPr>
              <a:t>Signing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60520"/>
            <a:ext cx="91440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07408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8A8E96"/>
                </a:solidFill>
                <a:latin typeface="Helvetica"/>
              </a:rPr>
              <a:t>The signing ceremony is four distinct, logged acts — not one button press.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188720"/>
            <a:ext cx="50292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53312"/>
            <a:ext cx="10725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8E96"/>
                </a:solidFill>
                <a:latin typeface="Helvetica"/>
              </a:rPr>
              <a:t>The signing ceremony is four distinct, logged acts — not one button press.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2024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ECE6DA"/>
                </a:solidFill>
                <a:latin typeface="Helvetica"/>
              </a:rPr>
              <a:t>Review.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7744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7C0B2"/>
                </a:solidFill>
                <a:latin typeface="Helvetica"/>
              </a:rPr>
              <a:t>Full contract text on screen; draft PDF downloadable before signing.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5292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ESIGN §7001(c)(1)(C)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2024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ECE6DA"/>
                </a:solidFill>
                <a:latin typeface="Helvetica"/>
              </a:rPr>
              <a:t>Consent.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37744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7C0B2"/>
                </a:solidFill>
                <a:latin typeface="Helvetica"/>
              </a:rPr>
              <a:t>Explicit e-sign consent, timestamped before the canvas opens.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5292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ESIGN §7001(a)(1)  ·  UETA §75-12-5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06908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ECE6DA"/>
                </a:solidFill>
                <a:latin typeface="Helvetica"/>
              </a:rPr>
              <a:t>Capture.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52628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7C0B2"/>
                </a:solidFill>
                <a:latin typeface="Helvetica"/>
              </a:rPr>
              <a:t>Drawn signature @ 2× DPR, IP, user-agent, consent time, method.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00176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src/components/signing/SigningInterface.tsx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06908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ECE6DA"/>
                </a:solidFill>
                <a:latin typeface="Helvetica"/>
              </a:rPr>
              <a:t>Seal.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52628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7C0B2"/>
                </a:solidFill>
                <a:latin typeface="Helvetica"/>
              </a:rPr>
              <a:t>SHA-256 of the final PDF, signed with AWS KMS.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500176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45 CFR §164.312(c)(1)-(2)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00 -0.3500 E" pathEditMode="relative" rAng="0" ptsTypes="">
                                      <p:cBhvr>
                                        <p:cTn id="6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34000" y="34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19088"/>
            <a:ext cx="10725912" cy="6350"/>
          </a:xfrm>
          <a:prstGeom prst="rect">
            <a:avLst/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F67"/>
                </a:solidFill>
                <a:latin typeface="Helvetica"/>
              </a:rPr>
              <a:t>HIPAApotamus   ·   Feature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0528"/>
            <a:ext cx="5056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5F67"/>
                </a:solidFill>
                <a:latin typeface="Courier New"/>
              </a:rPr>
              <a:t>06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5912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0" b="0" i="0">
                <a:solidFill>
                  <a:srgbClr val="ECE6DA"/>
                </a:solidFill>
                <a:latin typeface="Georgia"/>
              </a:rPr>
              <a:t>Countersign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60520"/>
            <a:ext cx="91440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07408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8A8E96"/>
                </a:solidFill>
                <a:latin typeface="Helvetica"/>
              </a:rPr>
              <a:t>A BAA is bilateral. The clinic signs too — or there is no contract.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188720"/>
            <a:ext cx="50292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53312"/>
            <a:ext cx="10725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8E96"/>
                </a:solidFill>
                <a:latin typeface="Helvetica"/>
              </a:rPr>
              <a:t>A BAA is bilateral. The clinic signs too — or there is no contract.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052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ECE6DA"/>
                </a:solidFill>
                <a:latin typeface="Helvetica"/>
              </a:rPr>
              <a:t>Vendor 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68880"/>
            <a:ext cx="9052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Business Associate signs via the OTP-gated link.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4436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C99856"/>
                </a:solidFill>
                <a:latin typeface="Courier New"/>
              </a:rPr>
              <a:t>status: pending_vendor_signature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429000"/>
            <a:ext cx="9052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ECE6DA"/>
                </a:solidFill>
                <a:latin typeface="Helvetica"/>
              </a:rPr>
              <a:t>Clinic second.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86200"/>
            <a:ext cx="9052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HIPAA officer counter-signs from the dashboard.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36168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C99856"/>
                </a:solidFill>
                <a:latin typeface="Courier New"/>
              </a:rPr>
              <a:t>status: pending_countersignature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846320"/>
            <a:ext cx="9052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ECE6DA"/>
                </a:solidFill>
                <a:latin typeface="Helvetica"/>
              </a:rPr>
              <a:t>Fully executed.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303520"/>
            <a:ext cx="9052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Both signatures embedded. Both hashes recorded. Contract is active.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77900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C99856"/>
                </a:solidFill>
                <a:latin typeface="Courier New"/>
              </a:rPr>
              <a:t>45 CFR §164.504(e) — required provisions satisfied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00 -0.3500 E" pathEditMode="relative" rAng="0" ptsTypes="">
                                      <p:cBhvr>
                                        <p:cTn id="6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34000" y="34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25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30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35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42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47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52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59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64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69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19088"/>
            <a:ext cx="10725912" cy="6350"/>
          </a:xfrm>
          <a:prstGeom prst="rect">
            <a:avLst/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F67"/>
                </a:solidFill>
                <a:latin typeface="Helvetica"/>
              </a:rPr>
              <a:t>HIPAApotamus   ·   Feature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0528"/>
            <a:ext cx="5056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5F67"/>
                </a:solidFill>
                <a:latin typeface="Courier New"/>
              </a:rPr>
              <a:t>07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5912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0" b="0" i="0">
                <a:solidFill>
                  <a:srgbClr val="ECE6DA"/>
                </a:solidFill>
                <a:latin typeface="Georgia"/>
              </a:rPr>
              <a:t>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60520"/>
            <a:ext cx="91440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07408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8A8E96"/>
                </a:solidFill>
                <a:latin typeface="Helvetica"/>
              </a:rPr>
              <a:t>Signed documents belong in a place the clinic cannot accidentally delete.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188720"/>
            <a:ext cx="50292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53312"/>
            <a:ext cx="10725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8E96"/>
                </a:solidFill>
                <a:latin typeface="Helvetica"/>
              </a:rPr>
              <a:t>Signed documents belong in a place the clinic cannot accidentally delete.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8308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Private S3.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402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Block-all-public-access. Server-side encryption. Versioning enabled.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1576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AWS Healthcare Lens HCL_SEC7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89864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Pre-signed access.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35584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No public URLs — access is a short-lived signed URL, scoped to one object.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014215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Object Lock ready.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471416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Bucket prepared for WORM retention in production (Compliance mode).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94690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10-year retention  ·  Miss. Code §41-9-69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129784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TLS 1.2+ enforced.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586984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Bucket policy refuses non-SSL; SDK refuses plaintext.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606247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45 CFR §164.312(e)(1)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00 -0.3500 E" pathEditMode="relative" rAng="0" ptsTypes="">
                                      <p:cBhvr>
                                        <p:cTn id="6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34000" y="34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19088"/>
            <a:ext cx="10725912" cy="6350"/>
          </a:xfrm>
          <a:prstGeom prst="rect">
            <a:avLst/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F67"/>
                </a:solidFill>
                <a:latin typeface="Helvetica"/>
              </a:rPr>
              <a:t>HIPAApotamus   ·   Feature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0528"/>
            <a:ext cx="5056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5F67"/>
                </a:solidFill>
                <a:latin typeface="Courier New"/>
              </a:rPr>
              <a:t>08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5912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0" b="0" i="0">
                <a:solidFill>
                  <a:srgbClr val="ECE6DA"/>
                </a:solidFill>
                <a:latin typeface="Georgia"/>
              </a:rPr>
              <a:t>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60520"/>
            <a:ext cx="91440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07408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8A8E96"/>
                </a:solidFill>
                <a:latin typeface="Helvetica"/>
              </a:rPr>
              <a:t>How we answer the auditor's question: "Has this document been altered since signing?"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188720"/>
            <a:ext cx="50292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53312"/>
            <a:ext cx="10725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8E96"/>
                </a:solidFill>
                <a:latin typeface="Helvetica"/>
              </a:rPr>
              <a:t>How we answer the auditor's question: "Has this document been altered since signing?"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2024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ECE6DA"/>
                </a:solidFill>
                <a:latin typeface="Helvetica"/>
              </a:rPr>
              <a:t>SHA-256.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7744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7C0B2"/>
                </a:solidFill>
                <a:latin typeface="Helvetica"/>
              </a:rPr>
              <a:t>256-bit fingerprint of the final PDF.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5292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src/app/api/baas/[id]/sign/route.ts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2024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ECE6DA"/>
                </a:solidFill>
                <a:latin typeface="Helvetica"/>
              </a:rPr>
              <a:t>KMS ECDSA_SHA_256.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37744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7C0B2"/>
                </a:solidFill>
                <a:latin typeface="Helvetica"/>
              </a:rPr>
              <a:t>Hash signed with an ECC NIST P-256 key on a FIPS 140-2 L3 HSM.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5292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src/lib/signing/kms.ts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06908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ECE6DA"/>
                </a:solidFill>
                <a:latin typeface="Helvetica"/>
              </a:rPr>
              <a:t>Verify every read.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52628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7C0B2"/>
                </a:solidFill>
                <a:latin typeface="Helvetica"/>
              </a:rPr>
              <a:t>Re-hash on download. Mismatch triggers a security alert.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00176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45 CFR §164.312(c)(1)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06908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ECE6DA"/>
                </a:solidFill>
                <a:latin typeface="Helvetica"/>
              </a:rPr>
              <a:t>Non-repudiation.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52628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7C0B2"/>
                </a:solidFill>
                <a:latin typeface="Helvetica"/>
              </a:rPr>
              <a:t>The signer cannot later claim "that wasn't my document."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500176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— what makes it legally defensible 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00 -0.3500 E" pathEditMode="relative" rAng="0" ptsTypes="">
                                      <p:cBhvr>
                                        <p:cTn id="6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34000" y="34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25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30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35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42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47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52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59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64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69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76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81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86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19088"/>
            <a:ext cx="10725912" cy="6350"/>
          </a:xfrm>
          <a:prstGeom prst="rect">
            <a:avLst/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F67"/>
                </a:solidFill>
                <a:latin typeface="Helvetica"/>
              </a:rPr>
              <a:t>HIPAApotamus   ·   Feature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0528"/>
            <a:ext cx="5056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5F67"/>
                </a:solidFill>
                <a:latin typeface="Courier New"/>
              </a:rPr>
              <a:t>09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5912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0" b="0" i="0">
                <a:solidFill>
                  <a:srgbClr val="ECE6DA"/>
                </a:solidFill>
                <a:latin typeface="Georgia"/>
              </a:rPr>
              <a:t>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60520"/>
            <a:ext cx="91440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07408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8A8E96"/>
                </a:solidFill>
                <a:latin typeface="Helvetica"/>
              </a:rPr>
              <a:t>Every action in the signing ceremony is a first-class audit event.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188720"/>
            <a:ext cx="50292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53312"/>
            <a:ext cx="10725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8E96"/>
                </a:solidFill>
                <a:latin typeface="Helvetica"/>
              </a:rPr>
              <a:t>Every action in the signing ceremony is a first-class audit event.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8308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Magic link accessed.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402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Who opened the invitation, from where, when.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9864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OTP sent · verified · failed.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35584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Identity challenge recorded with attempts and lockouts.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14215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Consent · signature · hash · KMS seal.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471416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The four-act ceremony is reconstructable, frame by frame.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129784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Counter-signature · confirmation sent.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586984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Contract lifecycle is a log, not a guess.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06247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45 CFR §164.312(b) — audit controls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00 -0.3500 E" pathEditMode="relative" rAng="0" ptsTypes="">
                                      <p:cBhvr>
                                        <p:cTn id="6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34000" y="34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19088"/>
            <a:ext cx="10725912" cy="6350"/>
          </a:xfrm>
          <a:prstGeom prst="rect">
            <a:avLst/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F67"/>
                </a:solidFill>
                <a:latin typeface="Helvetica"/>
              </a:rPr>
              <a:t>HIPAApotamus   ·   Feature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0528"/>
            <a:ext cx="5056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5F67"/>
                </a:solidFill>
                <a:latin typeface="Courier New"/>
              </a:rPr>
              <a:t>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5912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0" b="0" i="0">
                <a:solidFill>
                  <a:srgbClr val="ECE6DA"/>
                </a:solidFill>
                <a:latin typeface="Georgia"/>
              </a:rPr>
              <a:t>Reminders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60520"/>
            <a:ext cx="91440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07408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8A8E96"/>
                </a:solidFill>
                <a:latin typeface="Helvetica"/>
              </a:rPr>
              <a:t>Every status change sends a purpose-built email — and every email stays inside the AWS BAA perimeter.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188720"/>
            <a:ext cx="50292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53312"/>
            <a:ext cx="10725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8E96"/>
                </a:solidFill>
                <a:latin typeface="Helvetica"/>
              </a:rPr>
              <a:t>Every status change sends a purpose-built email — and every email stays inside the AWS BAA perimeter.</a:t>
            </a:r>
          </a:p>
        </p:txBody>
      </p:sp>
      <p:pic>
        <p:nvPicPr>
          <p:cNvPr id="10" name="Picture 9" descr="verification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57400"/>
            <a:ext cx="2467279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8" y="3904487"/>
            <a:ext cx="2467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CE6DA"/>
                </a:solidFill>
                <a:latin typeface="Helvetica"/>
              </a:rPr>
              <a:t>Verification code.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251959"/>
            <a:ext cx="24672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C7C0B2"/>
                </a:solidFill>
                <a:latin typeface="Helvetica"/>
              </a:rPr>
              <a:t>10-minute OTP sent to the signer's registered email.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047488"/>
            <a:ext cx="2467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C99856"/>
                </a:solidFill>
                <a:latin typeface="Courier New"/>
              </a:rPr>
              <a:t>ESIGN §7001(c) — attribution</a:t>
            </a:r>
          </a:p>
        </p:txBody>
      </p:sp>
      <p:pic>
        <p:nvPicPr>
          <p:cNvPr id="14" name="Picture 13" descr="signature_remi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407" y="2057400"/>
            <a:ext cx="2467279" cy="1645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91407" y="3904487"/>
            <a:ext cx="2467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CE6DA"/>
                </a:solidFill>
                <a:latin typeface="Helvetica"/>
              </a:rPr>
              <a:t>Signature reminder.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1407" y="4251959"/>
            <a:ext cx="24672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C7C0B2"/>
                </a:solidFill>
                <a:latin typeface="Helvetica"/>
              </a:rPr>
              <a:t>Automatic nudges at 7 / 14 / 29 days since invitation.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1407" y="5047488"/>
            <a:ext cx="2467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C99856"/>
                </a:solidFill>
                <a:latin typeface="Courier New"/>
              </a:rPr>
              <a:t>src/lib/reminders/policy.ts</a:t>
            </a:r>
          </a:p>
        </p:txBody>
      </p:sp>
      <p:pic>
        <p:nvPicPr>
          <p:cNvPr id="18" name="Picture 17" descr="executed_confir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07" y="2057400"/>
            <a:ext cx="2467279" cy="1645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33007" y="3904487"/>
            <a:ext cx="2467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CE6DA"/>
                </a:solidFill>
                <a:latin typeface="Helvetica"/>
              </a:rPr>
              <a:t>Executed confirmation.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4251959"/>
            <a:ext cx="24672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C7C0B2"/>
                </a:solidFill>
                <a:latin typeface="Helvetica"/>
              </a:rPr>
              <a:t>Delivered to both parties when the clinic counter-signs.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3007" y="5047488"/>
            <a:ext cx="2467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C99856"/>
                </a:solidFill>
                <a:latin typeface="Courier New"/>
              </a:rPr>
              <a:t>45 CFR §164.504(e) — fully executed</a:t>
            </a:r>
          </a:p>
        </p:txBody>
      </p:sp>
      <p:pic>
        <p:nvPicPr>
          <p:cNvPr id="22" name="Picture 21" descr="expiration_not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4607" y="2057400"/>
            <a:ext cx="2467279" cy="1645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974607" y="3904487"/>
            <a:ext cx="2467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CE6DA"/>
                </a:solidFill>
                <a:latin typeface="Helvetica"/>
              </a:rPr>
              <a:t>Expiration notice.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607" y="4251959"/>
            <a:ext cx="24672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C7C0B2"/>
                </a:solidFill>
                <a:latin typeface="Helvetica"/>
              </a:rPr>
              <a:t>30 / 7 / 0-day warnings with a one-click renewal link.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4607" y="5047488"/>
            <a:ext cx="2467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C99856"/>
                </a:solidFill>
                <a:latin typeface="Courier New"/>
              </a:rPr>
              <a:t>45 CFR §164.502(e)(1)(i)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00 -0.3500 E" pathEditMode="relative" rAng="0" ptsTypes="">
                                      <p:cBhvr>
                                        <p:cTn id="6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34000" y="34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19088"/>
            <a:ext cx="10725912" cy="6350"/>
          </a:xfrm>
          <a:prstGeom prst="rect">
            <a:avLst/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F67"/>
                </a:solidFill>
                <a:latin typeface="Helvetica"/>
              </a:rPr>
              <a:t>HIPAApotamus   ·   Feature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0528"/>
            <a:ext cx="5056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5F67"/>
                </a:solidFill>
                <a:latin typeface="Courier New"/>
              </a:rPr>
              <a:t>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5912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0" b="0" i="0">
                <a:solidFill>
                  <a:srgbClr val="ECE6DA"/>
                </a:solidFill>
                <a:latin typeface="Georgia"/>
              </a:rPr>
              <a:t>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60520"/>
            <a:ext cx="91440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07408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8A8E96"/>
                </a:solidFill>
                <a:latin typeface="Helvetica"/>
              </a:rPr>
              <a:t>Every BAA clause is mapped to the regulation it satisfies — on the record, on the page.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188720"/>
            <a:ext cx="50292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53312"/>
            <a:ext cx="10725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8E96"/>
                </a:solidFill>
                <a:latin typeface="Helvetica"/>
              </a:rPr>
              <a:t>Every BAA clause is mapped to the regulation it satisfies — on the record, on the page.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288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45 CFR §164.504(e)(2).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860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The required-elements checklist, mapped section by section.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614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src/lib/baa/cfrMappings.ts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4127" y="214884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ECE6DA"/>
                </a:solidFill>
                <a:latin typeface="Helvetica"/>
              </a:rPr>
              <a:t>MSDH sections.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4127" y="260604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Mississippi-specific provisions cross-walked against state requirements.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4127" y="30815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C99856"/>
                </a:solidFill>
                <a:latin typeface="Courier New"/>
              </a:rPr>
              <a:t>Compliance Matrix PDF — generated per BAA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4290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Evidence on demand.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8862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One export — ready for OCR, the state health department, or a prospect's security review.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3616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src/lib/pdf/ComplianceMatrixPDF.tsx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00 -0.3500 E" pathEditMode="relative" rAng="0" ptsTypes="">
                                      <p:cBhvr>
                                        <p:cTn id="6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34000" y="34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19088"/>
            <a:ext cx="10725912" cy="6350"/>
          </a:xfrm>
          <a:prstGeom prst="rect">
            <a:avLst/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F67"/>
                </a:solidFill>
                <a:latin typeface="Helvetica"/>
              </a:rPr>
              <a:t>HIPAApotamus   ·   Feature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0528"/>
            <a:ext cx="5056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5F67"/>
                </a:solidFill>
                <a:latin typeface="Courier New"/>
              </a:rPr>
              <a:t>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5912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0" b="0" i="0">
                <a:solidFill>
                  <a:srgbClr val="ECE6DA"/>
                </a:solidFill>
                <a:latin typeface="Georgia"/>
              </a:rPr>
              <a:t>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60520"/>
            <a:ext cx="91440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07408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8A8E96"/>
                </a:solidFill>
                <a:latin typeface="Helvetica"/>
              </a:rPr>
              <a:t>The audit history is searchable in plain English — grounded in the real ledger.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188720"/>
            <a:ext cx="50292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53312"/>
            <a:ext cx="10725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8E96"/>
                </a:solidFill>
                <a:latin typeface="Helvetica"/>
              </a:rPr>
              <a:t>The audit history is searchable in plain English — grounded in the real ledger.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052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ECE6DA"/>
                </a:solidFill>
                <a:latin typeface="Helvetica"/>
              </a:rPr>
              <a:t>Ask a question.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68880"/>
            <a:ext cx="9052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"Which BAAs expire in 30 days?"   "Show me ScriptGuard's signing history."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29000"/>
            <a:ext cx="9052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ECE6DA"/>
                </a:solidFill>
                <a:latin typeface="Helvetica"/>
              </a:rPr>
              <a:t>Gemini 2.0 Flash.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886200"/>
            <a:ext cx="9052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Streaming responses, grounded in audit logs — not model hallucination.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36168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C99856"/>
                </a:solidFill>
                <a:latin typeface="Courier New"/>
              </a:rPr>
              <a:t>src/lib/ai/gemini.ts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846320"/>
            <a:ext cx="9052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ECE6DA"/>
                </a:solidFill>
                <a:latin typeface="Helvetica"/>
              </a:rPr>
              <a:t>RBAC enforced.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303520"/>
            <a:ext cx="9052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The model sees only what the signed-in user is permitted to see.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77900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C99856"/>
                </a:solidFill>
                <a:latin typeface="Courier New"/>
              </a:rPr>
              <a:t>45 CFR §164.308(a)(4)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00 -0.3500 E" pathEditMode="relative" rAng="0" ptsTypes="">
                                      <p:cBhvr>
                                        <p:cTn id="6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34000" y="34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25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30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37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42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47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54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59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64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19088"/>
            <a:ext cx="10725912" cy="6350"/>
          </a:xfrm>
          <a:prstGeom prst="rect">
            <a:avLst/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F67"/>
                </a:solidFill>
                <a:latin typeface="Helvetica"/>
              </a:rPr>
              <a:t>HIPAApotamus   ·   Feature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0528"/>
            <a:ext cx="5056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5F67"/>
                </a:solidFill>
                <a:latin typeface="Courier New"/>
              </a:rPr>
              <a:t>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5912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0" b="0" i="0">
                <a:solidFill>
                  <a:srgbClr val="ECE6DA"/>
                </a:solidFill>
                <a:latin typeface="Georgia"/>
              </a:rPr>
              <a:t>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60520"/>
            <a:ext cx="91440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07408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8A8E96"/>
                </a:solidFill>
                <a:latin typeface="Helvetica"/>
              </a:rPr>
              <a:t>A narrow, explainable AWS stack — every layer inside the BAA perimeter.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188720"/>
            <a:ext cx="50292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53312"/>
            <a:ext cx="10725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8E96"/>
                </a:solidFill>
                <a:latin typeface="Helvetica"/>
              </a:rPr>
              <a:t>A narrow, explainable AWS stack — every layer inside the BAA perimeter.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8308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Identity.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402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Amazon Cognito — MFA-ready, custom-attribute RBAC.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1576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cdk/lib/hipaa-baa-stack.ts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1576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1729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DynamoDB (PITR + streams)   ·   S3 (versioned, encrypted).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64845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9856"/>
                </a:solidFill>
                <a:latin typeface="Courier New"/>
              </a:rPr>
              <a:t>AWS Healthcare Lens HCL_SEC1 / SEC7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64845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Cryptography.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105656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AWS KMS — FIPS 140-2 Level 3 HSM, ECC NIST P-256.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581144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Delivery.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038344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Amazon SES — email stays inside the AWS BAA perimeter.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51383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CE6DA"/>
                </a:solidFill>
                <a:latin typeface="Helvetica"/>
              </a:rPr>
              <a:t>Intelligence.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97103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C0B2"/>
                </a:solidFill>
                <a:latin typeface="Helvetica"/>
              </a:rPr>
              <a:t>Google Gemini — grounded, streamed, scoped.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00 -0.3500 E" pathEditMode="relative" rAng="0" ptsTypes="">
                                      <p:cBhvr>
                                        <p:cTn id="6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34000" y="34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19088"/>
            <a:ext cx="10725912" cy="6350"/>
          </a:xfrm>
          <a:prstGeom prst="rect">
            <a:avLst/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F67"/>
                </a:solidFill>
                <a:latin typeface="Helvetica"/>
              </a:rPr>
              <a:t>HIPAApotamus   ·   Feature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510528"/>
            <a:ext cx="5056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5F67"/>
                </a:solidFill>
                <a:latin typeface="Courier New"/>
              </a:rPr>
              <a:t>14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5912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0" b="0" i="0">
                <a:solidFill>
                  <a:srgbClr val="ECE6DA"/>
                </a:solidFill>
                <a:latin typeface="Georgia"/>
              </a:rPr>
              <a:t>HIPAApotamus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60520"/>
            <a:ext cx="91440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07408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8A8E96"/>
                </a:solidFill>
                <a:latin typeface="Helvetica"/>
              </a:rPr>
              <a:t>One HIPAA-native platform — not four SaaS tools duct-taped together.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188720"/>
            <a:ext cx="502920" cy="19050"/>
          </a:xfrm>
          <a:prstGeom prst="rect">
            <a:avLst/>
          </a:prstGeom>
          <a:solidFill>
            <a:srgbClr val="C99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53312"/>
            <a:ext cx="10725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8E96"/>
                </a:solidFill>
                <a:latin typeface="Helvetica"/>
              </a:rPr>
              <a:t>One HIPAA-native platform — not four SaaS tools duct-taped together.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052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ECE6DA"/>
                </a:solidFill>
                <a:latin typeface="Helvetica"/>
              </a:rPr>
              <a:t>DocuSign + Dropbox + Spreadsheets + Outlook.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5576" y="2221992"/>
            <a:ext cx="5230368" cy="20320"/>
          </a:xfrm>
          <a:prstGeom prst="rect">
            <a:avLst/>
          </a:prstGeom>
          <a:solidFill>
            <a:srgbClr val="A8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429000"/>
            <a:ext cx="9052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ECE6DA"/>
                </a:solidFill>
                <a:latin typeface="Helvetica"/>
              </a:rPr>
              <a:t>One perimeter. One audit log. One matrix. One renewal loop.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846320"/>
            <a:ext cx="9052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ECE6DA"/>
                </a:solidFill>
                <a:latin typeface="Helvetica"/>
              </a:rPr>
              <a:t>Built for Mississippi DOH. Extensible to every covered entity.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00 -0.3500 E" pathEditMode="relative" rAng="0" ptsTypes="">
                                      <p:cBhvr>
                                        <p:cTn id="6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34000" y="34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25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30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37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rAng="0" ptsTypes="">
                                      <p:cBhvr>
                                        <p:cTn id="44" dur="450" fill="hold" accel="50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